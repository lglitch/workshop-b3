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Open Sans Bold" charset="1" panose="020B0806030504020204"/>
      <p:regular r:id="rId16"/>
    </p:embeddedFont>
    <p:embeddedFont>
      <p:font typeface="Amazing Grotesk" charset="1" panose="02000503040000020004"/>
      <p:regular r:id="rId17"/>
    </p:embeddedFont>
    <p:embeddedFont>
      <p:font typeface="Amazing Grotesk Semi-Bold" charset="1" panose="02000703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0" r="-1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35313" y="7909175"/>
            <a:ext cx="926527" cy="1816720"/>
          </a:xfrm>
          <a:custGeom>
            <a:avLst/>
            <a:gdLst/>
            <a:ahLst/>
            <a:cxnLst/>
            <a:rect r="r" b="b" t="t" l="l"/>
            <a:pathLst>
              <a:path h="1816720" w="926527">
                <a:moveTo>
                  <a:pt x="0" y="0"/>
                </a:moveTo>
                <a:lnTo>
                  <a:pt x="926527" y="0"/>
                </a:lnTo>
                <a:lnTo>
                  <a:pt x="926527" y="1816720"/>
                </a:lnTo>
                <a:lnTo>
                  <a:pt x="0" y="1816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2687" y="3450590"/>
            <a:ext cx="14582626" cy="320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ROBOT EXPLORATEUR</a:t>
            </a:r>
          </a:p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X</a:t>
            </a:r>
            <a:r>
              <a:rPr lang="en-US" sz="9200">
                <a:solidFill>
                  <a:srgbClr val="FF5757"/>
                </a:solidFill>
                <a:latin typeface="Archivo Black"/>
                <a:ea typeface="Archivo Black"/>
                <a:cs typeface="Archivo Black"/>
                <a:sym typeface="Archivo Black"/>
              </a:rPr>
              <a:t>-</a:t>
            </a:r>
            <a:r>
              <a:rPr lang="en-US" sz="92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SENTINELLE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34" y="85190"/>
            <a:ext cx="632452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Présentation de l’équipe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73825" y="2864531"/>
            <a:ext cx="5540350" cy="506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Erewann - 19 yo - B3 Dev IA 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Clément - 20 yo - B3 Dev IA 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Esteban - 20 yo - B3 Dev IA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Ayman - 20 yo - B3 ASRBD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Jérôme - 24 yo - B3 ASRBD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034" y="85190"/>
            <a:ext cx="521828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 La problématique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2584" y="3254444"/>
            <a:ext cx="17490338" cy="169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La pr</a:t>
            </a: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oblématique : Un vaisseau spatial est un environnement critique (risques de dépressurisation, départs de feu, pannes matérielles). La surveillance humaine 24/7 est une tâche fastidieuse et sujette aux baisses de vigilance.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2584" y="6579221"/>
            <a:ext cx="17490338" cy="112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Notre s</a:t>
            </a: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olution : Un robot de patrouille autonome capable de voir, d'entendre et de signaler les anomalies sans intervention humaine.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045" y="85190"/>
            <a:ext cx="615240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Le cahier des charges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3651" y="3693478"/>
            <a:ext cx="13560698" cy="281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0" indent="-345445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Se repérer et naviguer seul dans les c</a:t>
            </a: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ouloirs du vaisseau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  <a:p>
            <a:pPr algn="ctr" marL="690890" indent="-345445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Détecter visuellement des anomalies (obstacles, fumée, intrusions)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  <a:p>
            <a:pPr algn="ctr" marL="690890" indent="-345445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Capter des sons suspects (alarmes, sifflement d'une fuite de gaz)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3512" y="1930865"/>
            <a:ext cx="4022692" cy="7965726"/>
          </a:xfrm>
          <a:custGeom>
            <a:avLst/>
            <a:gdLst/>
            <a:ahLst/>
            <a:cxnLst/>
            <a:rect r="r" b="b" t="t" l="l"/>
            <a:pathLst>
              <a:path h="7965726" w="4022692">
                <a:moveTo>
                  <a:pt x="0" y="0"/>
                </a:moveTo>
                <a:lnTo>
                  <a:pt x="4022692" y="0"/>
                </a:lnTo>
                <a:lnTo>
                  <a:pt x="4022692" y="7965726"/>
                </a:lnTo>
                <a:lnTo>
                  <a:pt x="0" y="7965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2654" y="1930865"/>
            <a:ext cx="4022692" cy="7965726"/>
          </a:xfrm>
          <a:custGeom>
            <a:avLst/>
            <a:gdLst/>
            <a:ahLst/>
            <a:cxnLst/>
            <a:rect r="r" b="b" t="t" l="l"/>
            <a:pathLst>
              <a:path h="7965726" w="4022692">
                <a:moveTo>
                  <a:pt x="0" y="0"/>
                </a:moveTo>
                <a:lnTo>
                  <a:pt x="4022692" y="0"/>
                </a:lnTo>
                <a:lnTo>
                  <a:pt x="4022692" y="7965726"/>
                </a:lnTo>
                <a:lnTo>
                  <a:pt x="0" y="7965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27071" y="1930865"/>
            <a:ext cx="4022692" cy="7965726"/>
          </a:xfrm>
          <a:custGeom>
            <a:avLst/>
            <a:gdLst/>
            <a:ahLst/>
            <a:cxnLst/>
            <a:rect r="r" b="b" t="t" l="l"/>
            <a:pathLst>
              <a:path h="7965726" w="4022692">
                <a:moveTo>
                  <a:pt x="0" y="0"/>
                </a:moveTo>
                <a:lnTo>
                  <a:pt x="4022692" y="0"/>
                </a:lnTo>
                <a:lnTo>
                  <a:pt x="4022692" y="7965726"/>
                </a:lnTo>
                <a:lnTo>
                  <a:pt x="0" y="7965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045" y="85190"/>
            <a:ext cx="6999759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L’architecture technique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290" y="2042822"/>
            <a:ext cx="2259137" cy="6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b="true" sz="3700" u="sng">
                <a:solidFill>
                  <a:srgbClr val="000000"/>
                </a:solidFill>
                <a:latin typeface="Amazing Grotesk Semi-Bold"/>
                <a:ea typeface="Amazing Grotesk Semi-Bold"/>
                <a:cs typeface="Amazing Grotesk Semi-Bold"/>
                <a:sym typeface="Amazing Grotesk Semi-Bold"/>
              </a:rPr>
              <a:t>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26499" y="2042822"/>
            <a:ext cx="2035001" cy="6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b="true" sz="3700" u="sng">
                <a:solidFill>
                  <a:srgbClr val="000000"/>
                </a:solidFill>
                <a:latin typeface="Amazing Grotesk Semi-Bold"/>
                <a:ea typeface="Amazing Grotesk Semi-Bold"/>
                <a:cs typeface="Amazing Grotesk Semi-Bold"/>
                <a:sym typeface="Amazing Grotesk Semi-Bold"/>
              </a:rPr>
              <a:t>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9741" y="2042822"/>
            <a:ext cx="2501131" cy="65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b="true" sz="3700" u="sng">
                <a:solidFill>
                  <a:srgbClr val="000000"/>
                </a:solidFill>
                <a:latin typeface="Amazing Grotesk Semi-Bold"/>
                <a:ea typeface="Amazing Grotesk Semi-Bold"/>
                <a:cs typeface="Amazing Grotesk Semi-Bold"/>
                <a:sym typeface="Amazing Grotesk Semi-Bold"/>
              </a:rPr>
              <a:t>Navigation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237" y="3129941"/>
            <a:ext cx="4022692" cy="506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Robot YANSHEE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Arduino UNO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Capteur ultra-sons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Breadboard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Batterie 9 volts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Cable USB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Capteurs d’humidité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Capteurs de lumière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Capteurs de gaz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2654" y="3129941"/>
            <a:ext cx="4022692" cy="281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OLLAMA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Python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HTML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CSS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7071" y="3129941"/>
            <a:ext cx="4022692" cy="281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Caméra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+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Capteurs ultra-sons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+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OLLAMA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045" y="85190"/>
            <a:ext cx="5852368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Difficultés et limites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828" y="4109403"/>
            <a:ext cx="17374344" cy="197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Chutes multiples du robot</a:t>
            </a:r>
          </a:p>
          <a:p>
            <a:pPr algn="ctr">
              <a:lnSpc>
                <a:spcPts val="5180"/>
              </a:lnSpc>
            </a:p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Ajout du capteur ultra-sons pour palier au manque de précision de la caméra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569528"/>
            <a:ext cx="18288000" cy="506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Caméra plus haute définition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Emetteur Wi-Fi 7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Miniaturisation de l’Arduino / Système des capteurs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Batterie plus performante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Puce GPS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0045" y="85190"/>
            <a:ext cx="6796162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Améliorations possibles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045" y="85190"/>
            <a:ext cx="637914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Apports de la semaine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00614" y="2569528"/>
            <a:ext cx="4886771" cy="506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Compétences en Arduino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Compétences en IA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Belles rencontres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Cohésion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mazing Grotesk"/>
                <a:ea typeface="Amazing Grotesk"/>
                <a:cs typeface="Amazing Grotesk"/>
                <a:sym typeface="Amazing Grotesk"/>
              </a:rPr>
              <a:t>Esprit d’équipe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7724"/>
            <a:ext cx="18288000" cy="1677748"/>
          </a:xfrm>
          <a:custGeom>
            <a:avLst/>
            <a:gdLst/>
            <a:ahLst/>
            <a:cxnLst/>
            <a:rect r="r" b="b" t="t" l="l"/>
            <a:pathLst>
              <a:path h="1677748" w="18288000">
                <a:moveTo>
                  <a:pt x="0" y="0"/>
                </a:moveTo>
                <a:lnTo>
                  <a:pt x="18288000" y="0"/>
                </a:lnTo>
                <a:lnTo>
                  <a:pt x="18288000" y="1677747"/>
                </a:lnTo>
                <a:lnTo>
                  <a:pt x="0" y="1677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" t="-229521" r="-150" b="-2836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7428"/>
            <a:ext cx="9525" cy="56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18585" y="4471352"/>
            <a:ext cx="5441305" cy="118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 b="true">
                <a:solidFill>
                  <a:srgbClr val="000000"/>
                </a:solidFill>
                <a:latin typeface="Amazing Grotesk Semi-Bold"/>
                <a:ea typeface="Amazing Grotesk Semi-Bold"/>
                <a:cs typeface="Amazing Grotesk Semi-Bold"/>
                <a:sym typeface="Amazing Grotesk Semi-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DAHWF83sXV0</dc:identifier>
  <dcterms:modified xsi:type="dcterms:W3CDTF">2011-08-01T06:04:30Z</dcterms:modified>
  <cp:revision>1</cp:revision>
  <dc:title>Robot explorateur</dc:title>
</cp:coreProperties>
</file>